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(2 min). Objetivo do treinamento: ao final, cada pessoa cria, preenche, emite e exporta um memorial sozinha. Mostre o link no projetor e peça que todos abram no próprio computador.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rápido antes/agora. Reforce que o ganho não é só velocidade: é padrão e rastreabilidade (quem emitiu, quando, qual revisão).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fluxo inteiro em 1 minuto. Cada bloco do treinamento detalha uma etapa; volte a este slide quando alguém se perder.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todos entrem agora. Quem ainda não tem senha faz o primeiro acesso (próximo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ninguém recebe senha pronta: cada pessoa cria a sua. O administrador só cadastra o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tela. Repita os nomes dos botões como estão na ferramenta para o time usar o mesmo vocabulário.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ao vivo: Novo ▾ → modelo Condomínio 2 × 7,4 kW. Mostre que o projeto já nasce com número e com as estações preenchidas.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formato do número e por que ninguém digita. Mostre a busca e o autocompletar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1 e 2 são as únicas com dados "de escritório". Tudo vem da vistoria: tenha o relatório ao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catálogo escolhendo um modelo e o "aplicar ao restante" com 2 pontos. Corrente, disjuntor e cabo aparecem calculados no resumo verde do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técnico. Use o desenho da cadeia para explicar os nomes dos trechos, que aparecem iguais no formulário, nas tabelas e no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7 e 8 mudam o conteúdo do memorial (seções inteiras entram ou saem). Seção 9: fotos não são obrigatórias; legenda 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ao vivo: clique numa pendência e mostre a seção abrindo e o campo em foco. Depois preencha e veja o quadro ficar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o documento ao vivo mostrando o índice com páginas e a tabela 5.6. Explique "Reavaliar" e o motivo que aparece embaixo.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o exercício ao vivo: mostre o formulário travando e o botão Gerar PDF ficando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uma revisão ao vivo no exercício: mostre a tabela de revisões mudando na página 2 do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central do treinamento: o padrão é o produto. O time preenche dados; não reescreve o memorial.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com o time quem mantém catálogo e modelos. Sugestão: o administrador aprova alterações no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as métricas ao vivo. Reforce o tom: o número por gestor serve para organizar o trabalho, não para cobrar.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fazem junto, no próprio computador. Circule pela sala. Ao final, peça que apaguem o projeto de teste (× na lista) para não sujar 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impresso ou fixado: é a página de consulta rápida depois do treinamento.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a lista de conferência. Combine um canal para dúvidas nas primeiras semanas e a data de revisão do treinamento.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Abertura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TREINAMENTO · TIME DE PROJETOS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26517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GERADOR DE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MEMORIAL</a:t>
            </a:r>
            <a:endParaRPr lang="en-US" sz="7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DESCRITIVO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1051560" y="6583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criar, conferir e emitir um memorial em minutos, sempre do mesmo jeito, por toda a equipe.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8503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bg-gmd.vercel.app</a:t>
            </a:r>
            <a:pPr indent="0" marL="0">
              <a:buNone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BeGreen Mobilidade Elétrica   ·   uso interno   ·   agosto de 2026</a:t>
            </a:r>
            <a:endParaRPr lang="en-US" sz="1400" dirty="0"/>
          </a:p>
        </p:txBody>
      </p:sp>
      <p:pic>
        <p:nvPicPr>
          <p:cNvPr id="9" name="Image 1" descr="/private/tmp/claude-501/-Users-kauebrunetti-Desktop-AA-IA/a61a0c6d-c00f-4961-a6dc-585d0eb4df0c/scratchpad/treino/img/te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514600"/>
            <a:ext cx="8229600" cy="51435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Abertura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 QUE A FERRAMENTA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QUE MUDA NO SEU DIA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1051560" y="2834640"/>
            <a:ext cx="7863840" cy="3246120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3108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ANTES  ·  </a:t>
            </a:r>
            <a:pPr indent="0" marL="0">
              <a:buNone/>
            </a:pPr>
            <a:r>
              <a:rPr lang="en-US" sz="21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CADA MEMORIAL ERA UM DOCUMENTO NOVO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17320" y="365760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 no Word, ajustado na mão a cada obra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Cálculos de cabo, eletroduto e queda de tensão refeitos em planilha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 do documento digitado; risco de repetir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Versões soltas em pastas diferentes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com um padrão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372600" y="2834640"/>
            <a:ext cx="7863840" cy="3246120"/>
          </a:xfrm>
          <a:prstGeom prst="roundRect">
            <a:avLst>
              <a:gd name="adj" fmla="val 61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38360" y="3108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AGORA  ·  </a:t>
            </a:r>
            <a:pPr indent="0" marL="0">
              <a:buNone/>
            </a:pPr>
            <a:r>
              <a:rPr lang="en-US" sz="21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UM LINK, UM PADRÃO, O CÁLCULO É AUTOMÁTICO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738360" y="365760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Parâmetros da obra de um lado, documento pronto do outro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Cabos, proteções, eletrodutos e ΔV calculados pela NBR 5410 e 17019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Numeração BG-ME gerada na nuvem, sem conflito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Projetos, modelos e catálogo compartilhados pelo time</a:t>
            </a:r>
            <a:endParaRPr lang="en-US" sz="15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só sai revisado, emitido e sem pendências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51560" y="6446520"/>
            <a:ext cx="5029200" cy="2377440"/>
          </a:xfrm>
          <a:prstGeom prst="roundRect">
            <a:avLst>
              <a:gd name="adj" fmla="val 8462"/>
            </a:avLst>
          </a:prstGeom>
          <a:solidFill>
            <a:srgbClr val="1B1C1B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7320" y="6720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link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1417320" y="7635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toda a equipe, em qualquer computador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29400" y="6446520"/>
            <a:ext cx="5029200" cy="2377440"/>
          </a:xfrm>
          <a:prstGeom prst="roundRect">
            <a:avLst>
              <a:gd name="adj" fmla="val 8462"/>
            </a:avLst>
          </a:prstGeom>
          <a:solidFill>
            <a:srgbClr val="1B1C1B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5160" y="6720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 cálculos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6995160" y="7635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feitos à mão: a ferramenta dimensiona e confere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2207240" y="6446520"/>
            <a:ext cx="5029200" cy="2377440"/>
          </a:xfrm>
          <a:prstGeom prst="roundRect">
            <a:avLst>
              <a:gd name="adj" fmla="val 8462"/>
            </a:avLst>
          </a:prstGeom>
          <a:solidFill>
            <a:srgbClr val="1B1C1B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573000" y="6720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padrão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12573000" y="76352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texto, numeração e arquivo para todo memorial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Abertura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VISÃO GERAL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CAMINHO DE UM MEMORIAL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1161288" y="3346704"/>
            <a:ext cx="15965424" cy="18288"/>
          </a:xfrm>
          <a:prstGeom prst="rect">
            <a:avLst/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3246120"/>
            <a:ext cx="228600" cy="228600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657600"/>
            <a:ext cx="2506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560" y="4160520"/>
            <a:ext cx="2506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ENTRAR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51560" y="5029200"/>
            <a:ext cx="2369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 e senha. Uma vez por navegador.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787140" y="3246120"/>
            <a:ext cx="228600" cy="228600"/>
          </a:xfrm>
          <a:prstGeom prst="ellipse">
            <a:avLst/>
          </a:prstGeom>
          <a:solidFill>
            <a:srgbClr val="3AAA35"/>
          </a:solidFill>
          <a:ln w="12700">
            <a:solidFill>
              <a:srgbClr val="3AAA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87140" y="3657600"/>
            <a:ext cx="2506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787140" y="4160520"/>
            <a:ext cx="2506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COMEÇAR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87140" y="5029200"/>
            <a:ext cx="2369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oficial, Duplicar ou em branco. Número automático.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22720" y="3246120"/>
            <a:ext cx="228600" cy="228600"/>
          </a:xfrm>
          <a:prstGeom prst="ellipse">
            <a:avLst/>
          </a:prstGeom>
          <a:solidFill>
            <a:srgbClr val="3AAA35"/>
          </a:solidFill>
          <a:ln w="12700">
            <a:solidFill>
              <a:srgbClr val="3AAA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22720" y="3657600"/>
            <a:ext cx="2506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22720" y="4160520"/>
            <a:ext cx="2506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PREENCHER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22720" y="5029200"/>
            <a:ext cx="2369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 1 a 10, de cima para baixo. Só o que muda por obra.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258300" y="3246120"/>
            <a:ext cx="228600" cy="228600"/>
          </a:xfrm>
          <a:prstGeom prst="ellipse">
            <a:avLst/>
          </a:prstGeom>
          <a:solidFill>
            <a:srgbClr val="3AAA35"/>
          </a:solidFill>
          <a:ln w="12700">
            <a:solidFill>
              <a:srgbClr val="3AAA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58300" y="3657600"/>
            <a:ext cx="2506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258300" y="4160520"/>
            <a:ext cx="2506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ZERAR PENDÊNCIAS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258300" y="5029200"/>
            <a:ext cx="2369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quadro vermelho lista o que falta e leva ao campo.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1993880" y="3246120"/>
            <a:ext cx="228600" cy="228600"/>
          </a:xfrm>
          <a:prstGeom prst="ellipse">
            <a:avLst/>
          </a:prstGeom>
          <a:solidFill>
            <a:srgbClr val="3AAA35"/>
          </a:solidFill>
          <a:ln w="12700">
            <a:solidFill>
              <a:srgbClr val="3AAA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993880" y="3657600"/>
            <a:ext cx="2506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1993880" y="4160520"/>
            <a:ext cx="2506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REVISAR E EMITIR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1993880" y="5029200"/>
            <a:ext cx="2369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Rascunho → Revisado → Emitido. Campos travam.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4729460" y="3246120"/>
            <a:ext cx="228600" cy="228600"/>
          </a:xfrm>
          <a:prstGeom prst="ellipse">
            <a:avLst/>
          </a:prstGeom>
          <a:solidFill>
            <a:srgbClr val="3AAA35"/>
          </a:solidFill>
          <a:ln w="12700">
            <a:solidFill>
              <a:srgbClr val="3AAA3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729460" y="3657600"/>
            <a:ext cx="2506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4729460" y="4160520"/>
            <a:ext cx="2506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GERAR PDF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14729460" y="5029200"/>
            <a:ext cx="2369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 com nome padrão. Mudou algo? Nova revisão.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051560" y="7589520"/>
            <a:ext cx="16184880" cy="960120"/>
          </a:xfrm>
          <a:prstGeom prst="roundRect">
            <a:avLst>
              <a:gd name="adj" fmla="val 19048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63040" y="7699248"/>
            <a:ext cx="365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1920240" y="7754112"/>
            <a:ext cx="14996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de ouro: o PDF só sai com status Emitido e zero pendências. Tudo o que vem antes existe para chegar aí sem retrabalho.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2D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950976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0976" y="3291840"/>
            <a:ext cx="1645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01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50976" y="512064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ACESSO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0976" y="621792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Entrar, primeiro acesso e a tela principal.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0976" y="8979408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 5 a 7</a:t>
            </a:r>
            <a:endParaRPr lang="en-US" sz="1400" dirty="0"/>
          </a:p>
        </p:txBody>
      </p:sp>
      <p:pic>
        <p:nvPicPr>
          <p:cNvPr id="7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01 · Acesso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ACESSO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ENTRAR NO GERADOR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login-c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43200"/>
            <a:ext cx="6583680" cy="60350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8421624" y="2834640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21624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79408" y="2834640"/>
            <a:ext cx="8211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LINK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bg-gmd.vercel.app abre em qualquer navegador, em qualquer computador. Não há nada para instalar. Salve nos favoritos.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421624" y="3813048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21624" y="3813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979408" y="3813048"/>
            <a:ext cx="8211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E-MAIL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O e-mail que o administrador cadastrou na Equipe. Outro e-mail não entra, mesmo com senha certa.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8421624" y="4791456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21624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979408" y="4791456"/>
            <a:ext cx="8211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SENHA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A que você criou no primeiro acesso. Esqueceu? "Esqueci a senha" manda um link por e-mail para definir outra.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8421624" y="5769864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21624" y="5769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8979408" y="5769864"/>
            <a:ext cx="8211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SESSÃO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Fica lembrada no navegador. Em computador compartilhado, use "sair" (canto direito da barra de status): o cache local é limpo.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8412480" y="7315200"/>
            <a:ext cx="8778240" cy="914400"/>
          </a:xfrm>
          <a:prstGeom prst="roundRect">
            <a:avLst>
              <a:gd name="adj" fmla="val 20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823960" y="7424928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A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9281160" y="747979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 nome aparece como gestor em cada projeto que você cria ou emite. Nunca use o login de outra pessoa.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01 · Acesso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ACESSO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PRIMEIRO ACESSO E SENHA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primeiro-c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43200"/>
            <a:ext cx="6035040" cy="6649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7863840" y="2743200"/>
            <a:ext cx="9372600" cy="1417320"/>
          </a:xfrm>
          <a:prstGeom prst="roundRect">
            <a:avLst>
              <a:gd name="adj" fmla="val 14194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0" y="3017520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ADMINISTRADOR CADASTRA SEU E-MAIL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229600" y="3493008"/>
            <a:ext cx="8641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Novo ▾ → Equipe, com seu nome (é o que sai nas métricas) e o papel: projetista ou administrador.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863840" y="4361688"/>
            <a:ext cx="9372600" cy="1417320"/>
          </a:xfrm>
          <a:prstGeom prst="roundRect">
            <a:avLst>
              <a:gd name="adj" fmla="val 14194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0" y="4636008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VOCÊ CRIA A PRÓPRIA SENHA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229600" y="5111496"/>
            <a:ext cx="8641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tela de entrada: "Primeiro acesso: criar senha" → e-mail, nome e uma senha com 6 caracteres ou mais.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863840" y="5980176"/>
            <a:ext cx="9372600" cy="1417320"/>
          </a:xfrm>
          <a:prstGeom prst="roundRect">
            <a:avLst>
              <a:gd name="adj" fmla="val 14194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0" y="6254496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CONFIRME PELO E-MAIL, SE FOR PEDIDO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229600" y="6729984"/>
            <a:ext cx="8641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 chegar um e-mail "Confirm your signup". Clique no link e depois entre com a senha.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863840" y="7598664"/>
            <a:ext cx="9372600" cy="1417320"/>
          </a:xfrm>
          <a:prstGeom prst="roundRect">
            <a:avLst>
              <a:gd name="adj" fmla="val 14194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0" y="7872984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ESQUECEU A SENHA?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229600" y="8348472"/>
            <a:ext cx="8641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"Esqueci a senha" envia um link. Ele abre o gerador já na tela de nova senha.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01 · Acesso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TELA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TUDO O QUE VOCÊ VÊ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te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10972800" cy="6858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6565392" y="2724912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6539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255203" y="2752344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55203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946490" y="2752344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4649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692640" y="2752344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926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1338560" y="2752344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3856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10076688" y="3074670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076688" y="3074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1408176" y="4014216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08176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408176" y="6345936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408176" y="6345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936992" y="6071616"/>
            <a:ext cx="384048" cy="384048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36992" y="6071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12719304" y="2697480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2719304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13277088" y="2697480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BUSCA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por cliente, número, endereço, gestor ou status. Abaixo, o projeto aberto.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12719304" y="3465576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719304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13277088" y="3465576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NOVO ▾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em branco, modelos oficiais, modelos do time, catálogo e equipe.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12719304" y="4233672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2719304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13277088" y="423367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MÉTRICAS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memoriais por semana e por gestor.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12719304" y="4800600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2719304" y="4800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13277088" y="480060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DUPLICAR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copia este projeto para outro cliente.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12719304" y="5367528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2719304" y="5367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13277088" y="536752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BAIXAR HTML · GERAR PDF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só com status Emitido.</a:t>
            </a:r>
            <a:endParaRPr lang="en-US" sz="1500" dirty="0"/>
          </a:p>
        </p:txBody>
      </p:sp>
      <p:sp>
        <p:nvSpPr>
          <p:cNvPr id="41" name="Shape 37"/>
          <p:cNvSpPr/>
          <p:nvPr/>
        </p:nvSpPr>
        <p:spPr>
          <a:xfrm>
            <a:off x="12719304" y="5934456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2719304" y="5934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1500" dirty="0"/>
          </a:p>
        </p:txBody>
      </p:sp>
      <p:sp>
        <p:nvSpPr>
          <p:cNvPr id="43" name="Text 39"/>
          <p:cNvSpPr/>
          <p:nvPr/>
        </p:nvSpPr>
        <p:spPr>
          <a:xfrm>
            <a:off x="13277088" y="5934456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NUVEM E GESTOR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sincronização e quem está logado (sair).</a:t>
            </a:r>
            <a:endParaRPr lang="en-US" sz="1500" dirty="0"/>
          </a:p>
        </p:txBody>
      </p:sp>
      <p:sp>
        <p:nvSpPr>
          <p:cNvPr id="44" name="Shape 40"/>
          <p:cNvSpPr/>
          <p:nvPr/>
        </p:nvSpPr>
        <p:spPr>
          <a:xfrm>
            <a:off x="12719304" y="6501384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2719304" y="6501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1500" dirty="0"/>
          </a:p>
        </p:txBody>
      </p:sp>
      <p:sp>
        <p:nvSpPr>
          <p:cNvPr id="46" name="Text 42"/>
          <p:cNvSpPr/>
          <p:nvPr/>
        </p:nvSpPr>
        <p:spPr>
          <a:xfrm>
            <a:off x="13277088" y="6501384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STATUS E PENDÊNCIAS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o que falta e o fluxo de aprovação.</a:t>
            </a:r>
            <a:endParaRPr lang="en-US" sz="1500" dirty="0"/>
          </a:p>
        </p:txBody>
      </p:sp>
      <p:sp>
        <p:nvSpPr>
          <p:cNvPr id="47" name="Shape 43"/>
          <p:cNvSpPr/>
          <p:nvPr/>
        </p:nvSpPr>
        <p:spPr>
          <a:xfrm>
            <a:off x="12719304" y="7068312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2719304" y="7068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1500" dirty="0"/>
          </a:p>
        </p:txBody>
      </p:sp>
      <p:sp>
        <p:nvSpPr>
          <p:cNvPr id="49" name="Text 45"/>
          <p:cNvSpPr/>
          <p:nvPr/>
        </p:nvSpPr>
        <p:spPr>
          <a:xfrm>
            <a:off x="13277088" y="7068312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SEÇÕES 1 A 10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os parâmetros da obra.</a:t>
            </a:r>
            <a:endParaRPr lang="en-US" sz="1500" dirty="0"/>
          </a:p>
        </p:txBody>
      </p:sp>
      <p:sp>
        <p:nvSpPr>
          <p:cNvPr id="50" name="Shape 46"/>
          <p:cNvSpPr/>
          <p:nvPr/>
        </p:nvSpPr>
        <p:spPr>
          <a:xfrm>
            <a:off x="12719304" y="7635240"/>
            <a:ext cx="402336" cy="402336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12719304" y="7635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1500" dirty="0"/>
          </a:p>
        </p:txBody>
      </p:sp>
      <p:sp>
        <p:nvSpPr>
          <p:cNvPr id="52" name="Text 48"/>
          <p:cNvSpPr/>
          <p:nvPr/>
        </p:nvSpPr>
        <p:spPr>
          <a:xfrm>
            <a:off x="13277088" y="763524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spc="1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DOCUMENTO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página por página, igual ao PDF.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2D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950976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0976" y="3291840"/>
            <a:ext cx="1645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02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50976" y="512064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COMEÇAR UM PROJETO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0976" y="621792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oficial, duplicar ou em branco. Número e cliente.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0976" y="8979408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 9 e 10</a:t>
            </a:r>
            <a:endParaRPr lang="en-US" sz="1400" dirty="0"/>
          </a:p>
        </p:txBody>
      </p:sp>
      <p:pic>
        <p:nvPicPr>
          <p:cNvPr id="7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02 · Começar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COMEÇAR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TRÊS JEITOS DE COMEÇAR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43200"/>
            <a:ext cx="3931920" cy="641828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577840" y="2743200"/>
            <a:ext cx="11658600" cy="1783080"/>
          </a:xfrm>
          <a:prstGeom prst="roundRect">
            <a:avLst>
              <a:gd name="adj" fmla="val 11282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0" y="30175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PADRÃO  ·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MODELO OFICIAL BEGREEN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943600" y="356616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Novo ▾ → escolha o cenário: Residencial 1 × 7,4 kW · Condomínio 2 × 7,4 kW · 4 × 7,4 kW agrupado · 2 × 22 kW 380 V · Empresa com transformador · Frota 60 kW DC. Vem tudo preenchido, menos o que muda por obra.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577840" y="4754880"/>
            <a:ext cx="11658600" cy="1783080"/>
          </a:xfrm>
          <a:prstGeom prst="roundRect">
            <a:avLst>
              <a:gd name="adj" fmla="val 11282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0" y="50292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MESMO PROJETO, OUTRO CLIENTE  ·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DUPLICAR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943600" y="557784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Botão Duplicar na barra ou ⧉ na lista de projetos. Copia todos os parâmetros técnicos e zera cliente, endereço, cidade, fotos, ART e observações. É o jeito mais rápido para obras parecidas.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577840" y="6766560"/>
            <a:ext cx="11658600" cy="1783080"/>
          </a:xfrm>
          <a:prstGeom prst="roundRect">
            <a:avLst>
              <a:gd name="adj" fmla="val 11282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0" y="704088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SÓ FORA DO PADRÃO  ·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 BRANCO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943600" y="7589520"/>
            <a:ext cx="10927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quando nenhum modelo serve. Tudo começa vazio: mais campos para preencher e mais chance de esquecer algo. Se o cenário se repetir, salve-o como modelo do time.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577840" y="8778240"/>
            <a:ext cx="11658600" cy="777240"/>
          </a:xfrm>
          <a:prstGeom prst="roundRect">
            <a:avLst>
              <a:gd name="adj" fmla="val 23529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89320" y="8887968"/>
            <a:ext cx="365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446520" y="8942832"/>
            <a:ext cx="10469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qualquer um dos três, o número BG-ME é gerado na hora pela nuvem. Você nunca digita número.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02 · Começar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COMEÇAR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NÚMERO DO DOCUMENTO E CLIENTE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51560" y="27889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BG-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051560" y="3931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BeGreen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35808" y="27889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ME-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3035808" y="3931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Mobilidade Elétrica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0056" y="27889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26-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5020056" y="3931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Ano, dois dígitos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04304" y="27889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0001</a:t>
            </a:r>
            <a:endParaRPr lang="en-US" sz="6000" dirty="0"/>
          </a:p>
        </p:txBody>
      </p:sp>
      <p:sp>
        <p:nvSpPr>
          <p:cNvPr id="14" name="Text 11"/>
          <p:cNvSpPr/>
          <p:nvPr/>
        </p:nvSpPr>
        <p:spPr>
          <a:xfrm>
            <a:off x="7004304" y="39319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Sequência do ano, gerada pela nuvem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51560" y="4983480"/>
            <a:ext cx="8412480" cy="1188720"/>
          </a:xfrm>
          <a:prstGeom prst="roundRect">
            <a:avLst>
              <a:gd name="adj" fmla="val 15385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63040" y="5093208"/>
            <a:ext cx="365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A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0240" y="5148072"/>
            <a:ext cx="72237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Nunca digite nem reaproveite um número. Cada projeto novo recebe o próximo da sequência, sem conflito entre pessoas. O botão AUTO ao lado do campo refaz, se precisar.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51560" y="6446520"/>
            <a:ext cx="8412480" cy="2926080"/>
          </a:xfrm>
          <a:prstGeom prst="roundRect">
            <a:avLst>
              <a:gd name="adj" fmla="val 6875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17320" y="6720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REVISÃO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REV. 00 NASCE COM A DATA DE HOJE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417320" y="7269480"/>
            <a:ext cx="7680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Revisão, data e a descrição "Emissão inicial" vêm prontas. Elas só mudam quando você emite uma nova revisão (bloco 04). O nº da ART de execução é o único campo de identificação que você precisa digitar.</a:t>
            </a:r>
            <a:endParaRPr lang="en-US" sz="1400" dirty="0"/>
          </a:p>
        </p:txBody>
      </p:sp>
      <p:pic>
        <p:nvPicPr>
          <p:cNvPr id="21" name="Image 1" descr="/private/tmp/claude-501/-Users-kauebrunetti-Desktop-AA-IA/a61a0c6d-c00f-4961-a6dc-585d0eb4df0c/scratchpad/treino/img/bus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788920"/>
            <a:ext cx="7178040" cy="221866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22" name="Shape 18"/>
          <p:cNvSpPr/>
          <p:nvPr/>
        </p:nvSpPr>
        <p:spPr>
          <a:xfrm>
            <a:off x="10058400" y="5394960"/>
            <a:ext cx="7178040" cy="3977640"/>
          </a:xfrm>
          <a:prstGeom prst="roundRect">
            <a:avLst>
              <a:gd name="adj" fmla="val 5057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424160" y="5669280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CLIENTE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BUSCAR E REAPROVEITAR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10424160" y="6217920"/>
            <a:ext cx="6446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busca encontra por cliente, número, endereço, gestor ou status. Clique para abrir.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já atendido: ao escolher o nome na lista do campo Cliente, endereço e cidade são preenchidos do último projeto dele.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lista: ⧉ duplica e × exclui (some para todos).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2D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950976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0976" y="3291840"/>
            <a:ext cx="1645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03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50976" y="512064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PREENCHER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0976" y="621792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Dez seções, de cima para baixo. O que a ferramenta calcula, você não digita.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0976" y="8979408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 12 a 15</a:t>
            </a:r>
            <a:endParaRPr lang="en-US" sz="1400" dirty="0"/>
          </a:p>
        </p:txBody>
      </p:sp>
      <p:pic>
        <p:nvPicPr>
          <p:cNvPr id="7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03 · Preencher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PREENCHER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SEÇÕES 1 E 2 · CLIENTE E ENTRADA DE ENERGIA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form-se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3520440" cy="67801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/private/tmp/claude-501/-Users-kauebrunetti-Desktop-AA-IA/a61a0c6d-c00f-4961-a6dc-585d0eb4df0c/scratchpad/treino/img/form-se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697480"/>
            <a:ext cx="3520440" cy="67801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8686800" y="2697480"/>
            <a:ext cx="8549640" cy="3154680"/>
          </a:xfrm>
          <a:prstGeom prst="roundRect">
            <a:avLst>
              <a:gd name="adj" fmla="val 63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052560" y="297180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1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IDENTIFICAÇÃO DO CLIENTE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9052560" y="3520440"/>
            <a:ext cx="7818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Cliente, endereço da obra e cidade/UF: como devem sair na capa.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Nº do documento, revisão, data e descrição: automáticos.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ART de execução: obrigatória para emitir. Sem ela, pendência.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686800" y="6080760"/>
            <a:ext cx="8549640" cy="3337560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052560" y="635508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2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ENTRADA DE ENERGIA DO CLIENTE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052560" y="6903720"/>
            <a:ext cx="7818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Tensão e configuração da rede (ex.: 220 V · 2F+N+T).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Disjuntor geral do QGBT (A) e corrente de curto-circuito presumida Ik (kA), informada pela concessionária.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Transformador: Sim abre a seção 3. Aterramento existente: Não = BeGreen executa hastes (muda o texto da seção 09).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03 · Preencher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PREENCHER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SEÇÕES 3, 4 E 5 · TRANSFORMADOR, QDA E ESTAÇÕES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form-sec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3520440" cy="67801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029200" y="2697480"/>
            <a:ext cx="12207240" cy="2103120"/>
          </a:xfrm>
          <a:prstGeom prst="roundRect">
            <a:avLst>
              <a:gd name="adj" fmla="val 9565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94960" y="2971800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3  ·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TRANSFORMADOR (SÓ QUANDO SIM NA SEÇÃO 2)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394960" y="3520440"/>
            <a:ext cx="11475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Potência (kVA), tensões e modos de ligação do primário e do secundário, grau de proteção. Cria os trechos 2 e 3 e o QDA Transformador no diagrama.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0" y="5001768"/>
            <a:ext cx="12207240" cy="2103120"/>
          </a:xfrm>
          <a:prstGeom prst="roundRect">
            <a:avLst>
              <a:gd name="adj" fmla="val 9565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4960" y="5276088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4  ·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QDA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5394960" y="5824728"/>
            <a:ext cx="11475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Quadro de distribuição dedicado? Sim → informe a quantidade de estações: a ferramenta cria um card por ponto (C-EV-01, C-EV-02…). Não → um único circuito a partir do QGBT.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0" y="7306056"/>
            <a:ext cx="12207240" cy="2514600"/>
          </a:xfrm>
          <a:prstGeom prst="roundRect">
            <a:avLst>
              <a:gd name="adj" fmla="val 80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94960" y="7580376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5  ·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ESTAÇÕES DE RECARGA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394960" y="8129016"/>
            <a:ext cx="11475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(catálogo BeGreen): escolher preenche potência e conector. Use sempre o catálogo.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"Aplicar ao restante" no C-EV-01 copia modelo, potência, conector, distância e kit para os outros pontos.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Kit de proteção (disjuntor + IDR + DPS): obrigatório até 22 kW; opcional de 22 a 30 kW (marque a caixa); acima disso, integrado à estação.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03 · Preencher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PREENCHER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6 · TRECHOS E DISTÂNCIAS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form-sec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3520440" cy="67801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029200" y="2697480"/>
            <a:ext cx="12207240" cy="2514600"/>
          </a:xfrm>
          <a:prstGeom prst="roundRect">
            <a:avLst>
              <a:gd name="adj" fmla="val 8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9496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 ONDE ATÉ ONDE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394960" y="34290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1B1C1B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9496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QGBT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205472" y="3749040"/>
            <a:ext cx="550926" cy="0"/>
          </a:xfrm>
          <a:prstGeom prst="line">
            <a:avLst/>
          </a:prstGeom>
          <a:noFill/>
          <a:ln w="19050">
            <a:solidFill>
              <a:srgbClr val="A9ADA7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6858000" y="4114800"/>
            <a:ext cx="1245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36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Trecho 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29550" y="34290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1B1C1B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2955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QDA TRANSFORMADOR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640062" y="3749040"/>
            <a:ext cx="550926" cy="0"/>
          </a:xfrm>
          <a:prstGeom prst="line">
            <a:avLst/>
          </a:prstGeom>
          <a:noFill/>
          <a:ln w="19050">
            <a:solidFill>
              <a:srgbClr val="A9ADA7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9292590" y="4114800"/>
            <a:ext cx="1245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36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Trecho 2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264140" y="34290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1B1C1B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26414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TRANSFORMADOR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2074652" y="3749040"/>
            <a:ext cx="550926" cy="0"/>
          </a:xfrm>
          <a:prstGeom prst="line">
            <a:avLst/>
          </a:prstGeom>
          <a:noFill/>
          <a:ln w="19050">
            <a:solidFill>
              <a:srgbClr val="A9ADA7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11727180" y="4114800"/>
            <a:ext cx="1245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36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Trecho 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2698730" y="34290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1B1C1B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269873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QDA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14509242" y="3749040"/>
            <a:ext cx="550926" cy="0"/>
          </a:xfrm>
          <a:prstGeom prst="line">
            <a:avLst/>
          </a:prstGeom>
          <a:noFill/>
          <a:ln w="19050">
            <a:solidFill>
              <a:srgbClr val="A9ADA7"/>
            </a:solidFill>
            <a:prstDash val="solid"/>
            <a:tailEnd type="triangle"/>
          </a:ln>
        </p:spPr>
      </p:sp>
      <p:sp>
        <p:nvSpPr>
          <p:cNvPr id="25" name="Text 21"/>
          <p:cNvSpPr/>
          <p:nvPr/>
        </p:nvSpPr>
        <p:spPr>
          <a:xfrm>
            <a:off x="14161770" y="4114800"/>
            <a:ext cx="12458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36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Trecho 4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15133320" y="3429000"/>
            <a:ext cx="1737360" cy="640080"/>
          </a:xfrm>
          <a:prstGeom prst="roundRect">
            <a:avLst>
              <a:gd name="adj" fmla="val 17143"/>
            </a:avLst>
          </a:prstGeom>
          <a:solidFill>
            <a:srgbClr val="3AAA35"/>
          </a:solidFill>
          <a:ln w="12700">
            <a:solidFill>
              <a:srgbClr val="1B1C1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513332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ESTAÇÕES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394960" y="4480560"/>
            <a:ext cx="11475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transformador, ficam só os trechos 1 (QGBT → QDA) e 2 (QDA → estações). Sem QDA, fica um trecho único.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029200" y="5486400"/>
            <a:ext cx="5966460" cy="1828800"/>
          </a:xfrm>
          <a:prstGeom prst="roundRect">
            <a:avLst>
              <a:gd name="adj" fmla="val 11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94960" y="5760720"/>
            <a:ext cx="5234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VOCÊ INFORMA  ·  </a:t>
            </a:r>
            <a:pPr indent="0" marL="0">
              <a:buNone/>
            </a:pPr>
            <a:r>
              <a:rPr lang="en-US" sz="16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DISTÂNCIA DE CADA TRECHO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5394960" y="6309360"/>
            <a:ext cx="5234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Medida na vistoria, em metros, do quadro de origem até o destino. Corrente, seção e eletroduto só se quiser forçar um valor diferente do calculado.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1269980" y="5486400"/>
            <a:ext cx="5966460" cy="1828800"/>
          </a:xfrm>
          <a:prstGeom prst="roundRect">
            <a:avLst>
              <a:gd name="adj" fmla="val 11000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635740" y="5760720"/>
            <a:ext cx="5234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FERRAMENTA CALCULA  ·  </a:t>
            </a:r>
            <a:pPr indent="0" marL="0">
              <a:buNone/>
            </a:pPr>
            <a:r>
              <a:rPr lang="en-US" sz="16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CABO, TERRA, DUTO E ΔV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1635740" y="6309360"/>
            <a:ext cx="5234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 pela capacidade de condução (tabelas B1/D com fator de temperatura), condutor de proteção, eletroduto pela ocupação de 40 % e queda de tensão por trecho.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029200" y="7543800"/>
            <a:ext cx="5966460" cy="1874520"/>
          </a:xfrm>
          <a:prstGeom prst="roundRect">
            <a:avLst>
              <a:gd name="adj" fmla="val 10732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94960" y="7818120"/>
            <a:ext cx="5234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0392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REAVALIAR  ·  </a:t>
            </a:r>
            <a:pPr indent="0" marL="0">
              <a:buNone/>
            </a:pPr>
            <a:r>
              <a:rPr lang="en-US" sz="16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ΔV &gt; 2 % OU OCUPAÇÃO &gt; 40 %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5394960" y="8366760"/>
            <a:ext cx="52349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Aumente a seção do cabo no campo "Seção do cabo", escolha um eletroduto maior ou revise a distância. O motivo aparece embaixo de "Reavaliar" na tabela 5.6.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11269980" y="7543800"/>
            <a:ext cx="5966460" cy="1874520"/>
          </a:xfrm>
          <a:prstGeom prst="roundRect">
            <a:avLst>
              <a:gd name="adj" fmla="val 10732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1635740" y="7818120"/>
            <a:ext cx="5234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TRECHO FINAL  ·  </a:t>
            </a:r>
            <a:pPr indent="0" marL="0">
              <a:buNone/>
            </a:pPr>
            <a:r>
              <a:rPr lang="en-US" sz="16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INDIVIDUAIS OU AGRUPADOS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11635740" y="8366760"/>
            <a:ext cx="52349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Agrupados: todos os circuitos seguem juntos em eletroduto ou eletrocalha até as vagas; o fator de agrupamento (tabela 42) é aplicado sozinho. Escolha o tamanho do duto.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03 · Preencher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PREENCHER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SEÇÕES 7 A 10 · DEMANDA, CONCLUSÃO, FOTOS E OBSERVAÇÕES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form-se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3520440" cy="67801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/private/tmp/claude-501/-Users-kauebrunetti-Desktop-AA-IA/a61a0c6d-c00f-4961-a6dc-585d0eb4df0c/scratchpad/treino/img/form-sec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697480"/>
            <a:ext cx="3520440" cy="67801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8686800" y="2697480"/>
            <a:ext cx="8549640" cy="1536192"/>
          </a:xfrm>
          <a:prstGeom prst="roundRect">
            <a:avLst>
              <a:gd name="adj" fmla="val 13095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052560" y="2971800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7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ANÁLISE DE DEMANDA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052560" y="3447288"/>
            <a:ext cx="7818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quando foi feita a medição de 8 dias. Sim → informe potência disponível e pontos simultâneos; entra a seção "Expansão para múltiplos pontos" no memorial.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686800" y="4416552"/>
            <a:ext cx="8549640" cy="1536192"/>
          </a:xfrm>
          <a:prstGeom prst="roundRect">
            <a:avLst>
              <a:gd name="adj" fmla="val 13095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052560" y="4690872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8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052560" y="5166360"/>
            <a:ext cx="7818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Alterar o padrão de entrada? Não = a informação é omitida do documento. Sim = o memorial indica a adequação junto à concessionária.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686800" y="6135624"/>
            <a:ext cx="8549640" cy="1536192"/>
          </a:xfrm>
          <a:prstGeom prst="roundRect">
            <a:avLst>
              <a:gd name="adj" fmla="val 13095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052560" y="6409944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9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FOTOS DO LOCAL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052560" y="6885432"/>
            <a:ext cx="7818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Opcionais. Se anexar, toda foto precisa de legenda (vira pendência). ★ guarda a foto na biblioteca padrão para reaproveitar em outros projetos.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686800" y="7854696"/>
            <a:ext cx="8549640" cy="1536192"/>
          </a:xfrm>
          <a:prstGeom prst="roundRect">
            <a:avLst>
              <a:gd name="adj" fmla="val 13095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052560" y="8129016"/>
            <a:ext cx="7818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10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OBSERVAÇÕES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052560" y="8604504"/>
            <a:ext cx="78181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Escopo específico da obra. Clique numa frase pronta para inserir; "+ nova frase" cria uma frase para todo o time.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2D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950976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0976" y="3291840"/>
            <a:ext cx="1645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04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50976" y="512064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CONFERIR E EMITIR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0976" y="621792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Pendências, o documento, o fluxo de aprovação e as revisões.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0976" y="8979408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 17 a 20</a:t>
            </a:r>
            <a:endParaRPr lang="en-US" sz="1400" dirty="0"/>
          </a:p>
        </p:txBody>
      </p:sp>
      <p:pic>
        <p:nvPicPr>
          <p:cNvPr id="7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04 · Conferir e emitir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CONFERIR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PENDÊNCIAS: O QUE FALTA E ONDE ESTÁ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p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7863840" cy="308581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1051560" y="5920451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pendências: vermelho, lista do que falta. Clique no item e o campo recebe o foco.</a:t>
            </a:r>
            <a:endParaRPr lang="en-US" sz="1300" dirty="0"/>
          </a:p>
        </p:txBody>
      </p:sp>
      <p:pic>
        <p:nvPicPr>
          <p:cNvPr id="9" name="Image 2" descr="/private/tmp/claude-501/-Users-kauebrunetti-Desktop-AA-IA/a61a0c6d-c00f-4961-a6dc-585d0eb4df0c/scratchpad/treino/img/pend-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6560531"/>
            <a:ext cx="7863840" cy="99542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1051560" y="7693113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pendências: verde, pronto para revisar e emitir.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1051560" y="8321040"/>
            <a:ext cx="7863840" cy="10058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463040" y="8430768"/>
            <a:ext cx="365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A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920240" y="848563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Regra: sem pendência, sem PDF. O botão Gerar PDF fica apagado e, ao clicar, mostra a lista.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9326880" y="2697480"/>
            <a:ext cx="7909560" cy="4343400"/>
          </a:xfrm>
          <a:prstGeom prst="roundRect">
            <a:avLst>
              <a:gd name="adj" fmla="val 4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692640" y="29718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QUE ELE CHECA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TUDO O QUE O MEMORIAL PRECISA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9692640" y="3520440"/>
            <a:ext cx="7178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Cliente, endereço, cidade, nº do documento, data e ART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Disjuntor geral e Ik do quadro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do transformador, quando há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Potência, conector e distância de cada estação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Distância de cada trecho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Potência disponível e pontos simultâneos (análise de demanda)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Legenda de todas as fotos anexadas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Queda de tensão acima de 2 % em algum circuito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Qualquer marcador [XX] que ainda apareça no documento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9326880" y="7269480"/>
            <a:ext cx="7909560" cy="2148840"/>
          </a:xfrm>
          <a:prstGeom prst="roundRect">
            <a:avLst>
              <a:gd name="adj" fmla="val 936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692640" y="75438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ENQUANTO HOUVER PENDÊNCIA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STATUS NÃO AVANÇA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9692640" y="8092440"/>
            <a:ext cx="7178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"Marcar como revisado" e "Emitir" ficam desabilitados. Resolva tudo antes de pedir a revisão de alguém: a lista é a mesma para todos.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04 · Conferir e emitir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CONFERIR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QUE VOCÊ VÊ É O PDF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doc-ind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4983480" cy="48812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/private/tmp/claude-501/-Users-kauebrunetti-Desktop-AA-IA/a61a0c6d-c00f-4961-a6dc-585d0eb4df0c/scratchpad/treino/img/doc-conduto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97480"/>
            <a:ext cx="4983480" cy="48812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1051560" y="7688415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Índice com a página de cada seção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309360" y="7688415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Tabela 5.6: conclusão do dimensionamento, com "Atende" ou "Reavaliar" por trecho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11612880" y="2697480"/>
            <a:ext cx="5623560" cy="1572768"/>
          </a:xfrm>
          <a:prstGeom prst="roundRect">
            <a:avLst>
              <a:gd name="adj" fmla="val 12791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978640" y="2971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PRÉVIA = PDF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1978640" y="3429000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páginas da tela são as páginas do PDF: mesmas quebras, mesmo cabeçalho, rodapé e numeração. O que está errado na tela sai errado no papel.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11612880" y="4407408"/>
            <a:ext cx="5623560" cy="1572768"/>
          </a:xfrm>
          <a:prstGeom prst="roundRect">
            <a:avLst>
              <a:gd name="adj" fmla="val 12791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978640" y="46817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QUADROS INTEIROS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1978640" y="5138928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Nenhum quadro é cortado entre páginas; se não cabe, vai inteiro para a próxima. Tabelas longas repetem o cabeçalho.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11612880" y="6117336"/>
            <a:ext cx="5623560" cy="1572768"/>
          </a:xfrm>
          <a:prstGeom prst="roundRect">
            <a:avLst>
              <a:gd name="adj" fmla="val 12791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978640" y="63916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CONFIRA SEMPRE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1978640" y="6848856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Capa e resumo (página 3) · 5.6 cabos · 6.2 eletrodutos · 7.2 proteções · 8 queda de tensão · diagrama unifilar.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11612880" y="7827264"/>
            <a:ext cx="5623560" cy="1572768"/>
          </a:xfrm>
          <a:prstGeom prst="roundRect">
            <a:avLst>
              <a:gd name="adj" fmla="val 12791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1978640" y="81015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DOCUMENTO ÚNICO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1978640" y="8558784"/>
            <a:ext cx="4892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só termo: "estação de recarga". Trechos com os mesmos nomes no formulário, nas tabelas e no diagrama.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04 · Conferir e emitir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EMITIR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RASCUNHO → REVISADO → EMITIDO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fluxo-rascun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43200"/>
            <a:ext cx="8778240" cy="144452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1051560" y="4260873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RASCUNHO   </a:t>
            </a:r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Editando. Marcar como revisado só habilita sem pendências.</a:t>
            </a:r>
            <a:endParaRPr lang="en-US" sz="1500" dirty="0"/>
          </a:p>
        </p:txBody>
      </p:sp>
      <p:pic>
        <p:nvPicPr>
          <p:cNvPr id="9" name="Image 2" descr="/private/tmp/claude-501/-Users-kauebrunetti-Desktop-AA-IA/a61a0c6d-c00f-4961-a6dc-585d0eb4df0c/scratchpad/treino/img/fluxo-revis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056401"/>
            <a:ext cx="8778240" cy="144452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1051560" y="6574073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REVISADO   </a:t>
            </a:r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Conferido. Emitir trava os campos e libera o PDF; Voltar a rascunho reabre.</a:t>
            </a:r>
            <a:endParaRPr lang="en-US" sz="1500" dirty="0"/>
          </a:p>
        </p:txBody>
      </p:sp>
      <p:pic>
        <p:nvPicPr>
          <p:cNvPr id="11" name="Image 3" descr="/private/tmp/claude-501/-Users-kauebrunetti-Desktop-AA-IA/a61a0c6d-c00f-4961-a6dc-585d0eb4df0c/scratchpad/treino/img/fluxo-emiti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7369601"/>
            <a:ext cx="8778240" cy="144452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2" name="Text 6"/>
          <p:cNvSpPr/>
          <p:nvPr/>
        </p:nvSpPr>
        <p:spPr>
          <a:xfrm>
            <a:off x="1051560" y="888727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EMITIDO   </a:t>
            </a:r>
            <a:pPr indent="0" marL="0"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 gestor e data. Para mudar, abra uma nova revisão.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10332720" y="2743200"/>
            <a:ext cx="6903720" cy="2880360"/>
          </a:xfrm>
          <a:prstGeom prst="roundRect">
            <a:avLst>
              <a:gd name="adj" fmla="val 6984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0698480" y="301752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 QUE DOIS NÍVEIS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REVISAR ANTES DE EMITIR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0698480" y="3566160"/>
            <a:ext cx="6172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Revisado é a sua conferência: documento lido, tabelas e diagrama checados. Emitido é o ato formal: a partir dele o memorial existe, com data e responsável, e não muda mais sem uma revisão numerada.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10332720" y="5852160"/>
            <a:ext cx="6903720" cy="3566160"/>
          </a:xfrm>
          <a:prstGeom prst="roundRect">
            <a:avLst>
              <a:gd name="adj" fmla="val 5641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0698480" y="612648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QUE EMITIR LIBERA  ·  </a:t>
            </a:r>
            <a:pPr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PDF E HTML COM NOME PADRÃO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10698480" y="6675120"/>
            <a:ext cx="6172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Gerar PDF: abre a impressão do navegador; escolha "Salvar como PDF", A4, sem margens.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Baixar HTML: versão única para enviar ou arquivar.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Nome: BG-ME-26-0001_Rev00_Nome-do-Cliente.pdf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Exportação em lote (na busca): só dos emitidos.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04 · Conferir e emitir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EMITIR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MUDOU ALGO DEPOIS? NOVA REVISÃO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form-emit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3520440" cy="678010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029200" y="2697480"/>
            <a:ext cx="12207240" cy="1371600"/>
          </a:xfrm>
          <a:prstGeom prst="roundRect">
            <a:avLst>
              <a:gd name="adj" fmla="val 14667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94960" y="297180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CLIQUE EM "NOVA REVISÃO"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394960" y="3429000"/>
            <a:ext cx="11475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quadro de status (documento emitido) ou no botão da seção 1. Os campos destravam.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0" y="4251960"/>
            <a:ext cx="12207240" cy="1371600"/>
          </a:xfrm>
          <a:prstGeom prst="roundRect">
            <a:avLst>
              <a:gd name="adj" fmla="val 14667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4960" y="452628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DESCREVA O QUE MUDOU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394960" y="4983480"/>
            <a:ext cx="11475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frase curta. Ela sai na tabela "Revisões e aprovações" da página 2, ao lado da data.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29200" y="5806440"/>
            <a:ext cx="12207240" cy="1371600"/>
          </a:xfrm>
          <a:prstGeom prst="roundRect">
            <a:avLst>
              <a:gd name="adj" fmla="val 14667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94960" y="608076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REV. 00 VIRA REV. 01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394960" y="6537960"/>
            <a:ext cx="11475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de hoje, status volta a rascunho. Corrija, zere as pendências, revise e emita de novo.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29200" y="7360920"/>
            <a:ext cx="12207240" cy="1371600"/>
          </a:xfrm>
          <a:prstGeom prst="roundRect">
            <a:avLst>
              <a:gd name="adj" fmla="val 14667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94960" y="763524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  ·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 VERSÃO ANTERIOR FICA GUARDADA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394960" y="8092440"/>
            <a:ext cx="11475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Histórico na seção 1: "abrir cópia" recria a revisão antiga como projeto separado, para consultar ou imprimir.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29200" y="8961120"/>
            <a:ext cx="12207240" cy="640080"/>
          </a:xfrm>
          <a:prstGeom prst="roundRect">
            <a:avLst>
              <a:gd name="adj" fmla="val 28571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440680" y="90708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840" dirty="0"/>
          </a:p>
        </p:txBody>
      </p:sp>
      <p:sp>
        <p:nvSpPr>
          <p:cNvPr id="22" name="Text 18"/>
          <p:cNvSpPr/>
          <p:nvPr/>
        </p:nvSpPr>
        <p:spPr>
          <a:xfrm>
            <a:off x="5897880" y="9125712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Fotos não entram no histórico de revisões: a cópia de uma revisão antiga usa as fotos atuais.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2D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950976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0976" y="3291840"/>
            <a:ext cx="1645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05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50976" y="512064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PADRÕES DA CASA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0976" y="621792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fixo, o que muda por obra, e o que o time compartilha.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0976" y="8979408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 22 a 24</a:t>
            </a:r>
            <a:endParaRPr lang="en-US" sz="1400" dirty="0"/>
          </a:p>
        </p:txBody>
      </p:sp>
      <p:pic>
        <p:nvPicPr>
          <p:cNvPr id="7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05 · Padrões da casa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PADRÃO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QUE É FIXO E O QUE MUDA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1051560" y="2743200"/>
            <a:ext cx="7863840" cy="356616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3017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FIXO · NÃO SE EDITA  ·  </a:t>
            </a:r>
            <a:pPr indent="0" marL="0">
              <a:buNone/>
            </a:pPr>
            <a:r>
              <a:rPr lang="en-US" sz="21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 QUE GARANTE O PADRÃO BEGREEN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417320" y="3566160"/>
            <a:ext cx="7132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Textos normativos, critérios de dimensionamento e tabelas de capacidade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Layout, capa, cabeçalho, rodapé e numeração de páginas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 do número, nome do arquivo e fluxo de aprovação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Glossário, seção de ART e responsabilidade técnica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oficiais e os textos-padrão das seções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372600" y="2743200"/>
            <a:ext cx="7863840" cy="356616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38360" y="3017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spc="1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MUDA POR OBRA  ·  </a:t>
            </a:r>
            <a:pPr indent="0" marL="0">
              <a:buNone/>
            </a:pPr>
            <a:r>
              <a:rPr lang="en-US" sz="21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SÓ O QUE VEIO DA VISTORIA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738360" y="3566160"/>
            <a:ext cx="7132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Cliente, endereço, cidade e ART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Rede, disjuntor geral, Ik e aterramento existente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Transformador, QDA e quantidade de estações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cada estação e as distâncias dos trechos</a:t>
            </a:r>
            <a:endParaRPr lang="en-US" sz="1450" dirty="0"/>
          </a:p>
          <a:p>
            <a:pPr marL="177800" indent="-1778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demanda, fotos e observações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051560" y="6629400"/>
            <a:ext cx="1618488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63040" y="6739128"/>
            <a:ext cx="3657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A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920240" y="6793992"/>
            <a:ext cx="14996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Precisa de um texto diferente para uma obra? Use a seção 10, Observações. Mudança no padrão (texto fixo, critério, modelo oficial) é com o administrador, para valer para todos.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51560" y="8001000"/>
            <a:ext cx="1618488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63040" y="8110728"/>
            <a:ext cx="3657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AA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920240" y="8165592"/>
            <a:ext cx="14996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Viu um texto fixo errado ou desatualizado? Anote o número da seção e avise o administrador: a correção vale para todos os memoriais seguintes.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05 · Padrões da casa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PADRÃO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MODELOS, CATÁLOGO E EQUIPE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modal-cata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7863840" cy="340401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/private/tmp/claude-501/-Users-kauebrunetti-Desktop-AA-IA/a61a0c6d-c00f-4961-a6dc-585d0eb4df0c/scratchpad/treino/img/modal-equip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6421533"/>
            <a:ext cx="7863840" cy="279943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9326880" y="2697480"/>
            <a:ext cx="7909560" cy="2057400"/>
          </a:xfrm>
          <a:prstGeom prst="roundRect">
            <a:avLst>
              <a:gd name="adj" fmla="val 9778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692640" y="29718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MODELOS  ·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OFICIAIS E DO TIME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92640" y="352044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6 modelos oficiais BeGreen não podem ser apagados. Cenário que se repete no seu dia? Novo ▾ → "Salvar o projeto atual como modelo": fica disponível para todos, sem os dados do cliente.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9326880" y="4956048"/>
            <a:ext cx="7909560" cy="2057400"/>
          </a:xfrm>
          <a:prstGeom prst="roundRect">
            <a:avLst>
              <a:gd name="adj" fmla="val 9778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692640" y="523036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CATÁLOGO  ·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EQUIPAMENTOS BEGREEN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9692640" y="5779008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Novo ▾ → Catálogo de equipamentos: modelo, kW, conector, AC/DC, IP. Escolher o modelo no card da estação preenche potência e conector. Quem edita o catálogo edita para o time todo.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326880" y="7214616"/>
            <a:ext cx="7909560" cy="2057400"/>
          </a:xfrm>
          <a:prstGeom prst="roundRect">
            <a:avLst>
              <a:gd name="adj" fmla="val 9778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692640" y="7488936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EQUIPE · ADMINISTRADOR  ·  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QUEM PODE ENTRAR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9692640" y="8037576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Novo ▾ → Equipe: cadastrar e-mail, nome e papel; desativar ou remover (bloqueia na hora); tornar alguém administrador. O nome cadastrado é o gestor que aparece nos projetos e nas métricas.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05 · Padrões da casa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PADRÃO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MÉTRICAS DO TIME</a:t>
            </a:r>
            <a:endParaRPr lang="en-US" sz="4400" dirty="0"/>
          </a:p>
        </p:txBody>
      </p:sp>
      <p:pic>
        <p:nvPicPr>
          <p:cNvPr id="7" name="Image 1" descr="/private/tmp/claude-501/-Users-kauebrunetti-Desktop-AA-IA/a61a0c6d-c00f-4961-a6dc-585d0eb4df0c/scratchpad/treino/img/modal-metric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97480"/>
            <a:ext cx="9326880" cy="522201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10835640" y="2697480"/>
            <a:ext cx="6400800" cy="1508760"/>
          </a:xfrm>
          <a:prstGeom prst="roundRect">
            <a:avLst>
              <a:gd name="adj" fmla="val 13333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201400" y="2971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 SEMANA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201400" y="3429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Memoriais criados e emitidos nas últimas 8 semanas.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835640" y="4407408"/>
            <a:ext cx="6400800" cy="1508760"/>
          </a:xfrm>
          <a:prstGeom prst="roundRect">
            <a:avLst>
              <a:gd name="adj" fmla="val 13333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201400" y="46817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POR GESTOR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1201400" y="51389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Criados, emitidos, em aberto e tempo médio entre criar e emitir.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0835640" y="6117336"/>
            <a:ext cx="6400800" cy="1508760"/>
          </a:xfrm>
          <a:prstGeom prst="roundRect">
            <a:avLst>
              <a:gd name="adj" fmla="val 13333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201400" y="63916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PENDÊNCIAS MAIS COMUNS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1201400" y="68488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o formulário trava: ajuda a ajustar modelos e vistoria.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10835640" y="7827264"/>
            <a:ext cx="6400800" cy="1508760"/>
          </a:xfrm>
          <a:prstGeom prst="roundRect">
            <a:avLst>
              <a:gd name="adj" fmla="val 13333"/>
            </a:avLst>
          </a:prstGeom>
          <a:solidFill>
            <a:srgbClr val="F2F3F0"/>
          </a:solidFill>
          <a:ln w="12700">
            <a:solidFill>
              <a:srgbClr val="F2F3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201400" y="81015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PARA QUE SERVE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11201400" y="855878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Planejar a semana, equilibrar a carga entre gestores e medir o efeito das melhorias. Não é ranking: é para ajudar.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2D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" y="950976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BLOCO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0976" y="3291840"/>
            <a:ext cx="1645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06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50976" y="5120640"/>
            <a:ext cx="164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PRÁTICA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0976" y="6217920"/>
            <a:ext cx="1371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Exercício guiado, erros comuns e a última conferência.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50976" y="8979408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C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 26 a 28</a:t>
            </a:r>
            <a:endParaRPr lang="en-US" sz="1400" dirty="0"/>
          </a:p>
        </p:txBody>
      </p:sp>
      <p:pic>
        <p:nvPicPr>
          <p:cNvPr id="7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06 · Prática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PRÁTICA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EXERCÍCIO GUIADO · 10 MINUTOS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1051560" y="2697480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62456" y="3012948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62456" y="30129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103120" y="2898648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ENTRAR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103120" y="3264408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bg-gmd.vercel.app com seu e-mail e senha.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326880" y="2697480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37776" y="3012948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37776" y="30129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378440" y="2898648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NOVO ▾ → MODELO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378440" y="3264408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"Condomínio · 2 × 7,4 kW · 220 V 2F+N+T · QDA".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051560" y="4005072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62456" y="4320540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62456" y="43205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03120" y="420624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103120" y="4572000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 "Condomínio Teste", endereço e cidade/UF. ART 00000000.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326880" y="4005072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37776" y="4320540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37776" y="43205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0378440" y="420624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2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378440" y="4572000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Disjuntor geral 100 A · Ik 6 kA.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51560" y="5312664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362456" y="5628132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62456" y="56281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2103120" y="5513832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SEÇÃO 6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2103120" y="5879592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Trecho 1 = 15 m · C-EV-01 = 12 m · C-EV-02 = 18 m.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9326880" y="5312664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637776" y="5628132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37776" y="56281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0378440" y="5513832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PENDÊNCIAS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0378440" y="5879592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Quadro verde? Se não, clique no item e resolva.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1051560" y="6620256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362456" y="6935724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62456" y="69357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2103120" y="6821424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REVISAR E EMITIR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2103120" y="7187184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Marcar como revisado → Emitir.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9326880" y="6620256"/>
            <a:ext cx="7909560" cy="1143000"/>
          </a:xfrm>
          <a:prstGeom prst="roundRect">
            <a:avLst>
              <a:gd name="adj" fmla="val 144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637776" y="6935724"/>
            <a:ext cx="512064" cy="512064"/>
          </a:xfrm>
          <a:prstGeom prst="ellipse">
            <a:avLst/>
          </a:prstGeom>
          <a:solidFill>
            <a:srgbClr val="D2D727"/>
          </a:solidFill>
          <a:ln w="12700">
            <a:solidFill>
              <a:srgbClr val="D2D7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37776" y="69357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10378440" y="6821424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GERAR PDF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0378440" y="7187184"/>
            <a:ext cx="662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Salvar como PDF. Conferir capa, 5.6 e o diagrama.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1051560" y="8092440"/>
            <a:ext cx="16184880" cy="914400"/>
          </a:xfrm>
          <a:prstGeom prst="roundRect">
            <a:avLst>
              <a:gd name="adj" fmla="val 20000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463040" y="8202168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1920240" y="8257032"/>
            <a:ext cx="1499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Depois: Duplicar o projeto, trocar só o cliente e emitir de novo. Cronometre: a meta é menos de 5 minutos do Duplicar ao PDF.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88384" y="384048"/>
            <a:ext cx="448056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Bloco 06 · Prática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DA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3AAA35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PRÁTICA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DEU ERRADO? O QUE FAZER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1051560" y="2834640"/>
            <a:ext cx="515112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320" y="310896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● NUVEM INDISPONÍVEL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417320" y="3657600"/>
            <a:ext cx="441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internet ou Supabase pausado. A ferramenta continua salvando no navegador e sobe tudo quando voltar. Não edite o mesmo projeto em dois navegadores.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68440" y="2834640"/>
            <a:ext cx="515112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34200" y="310896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SESSÃO EXPIROU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934200" y="3657600"/>
            <a:ext cx="441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 de novo com e-mail e senha. Nada se perde: o que foi digitado está salvo.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2085320" y="2834640"/>
            <a:ext cx="515112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51080" y="310896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E-MAIL NÃO AUTORIZADO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2451080" y="3657600"/>
            <a:ext cx="441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 e-mail não está na Equipe, ou foi desativado. Peça ao administrador para cadastrar.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51560" y="5897880"/>
            <a:ext cx="515112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17320" y="61722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"REAVALIAR" NA 5.6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417320" y="6720840"/>
            <a:ext cx="441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ΔV acima de 2 % ou ocupação acima de 40 %: aumente a seção do cabo, o eletroduto ou confira a distância.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68440" y="5897880"/>
            <a:ext cx="515112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34200" y="61722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[XX] NO DOCUMENTO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934200" y="6720840"/>
            <a:ext cx="441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Algum campo ficou vazio. A pendência "marcadores" denuncia; percorra a lista de pendências e o documento.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2085320" y="5897880"/>
            <a:ext cx="515112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451080" y="6172200"/>
            <a:ext cx="441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1C1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GERAR PDF APAGADO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12451080" y="6720840"/>
            <a:ext cx="441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6E736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Há pendências ou o status não é Emitido. Resolva, marque como revisado e emita.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C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kauebrunetti-Desktop-AA-IA/a61a0c6d-c00f-4961-a6dc-585d0eb4df0c/scratchpad/treino/media/impl-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0" y="457200"/>
            <a:ext cx="161848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9710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B8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GMD · Treinamento do time de projetos · Encerramento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15864840" y="9710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B8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51560" y="914400"/>
            <a:ext cx="16184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ANTES DE ENVIAR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51560" y="1417320"/>
            <a:ext cx="1618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ÚLTIMA CONFERÊNCIA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51560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4592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Cliente, endereço e cidade estão como devem sair na capa?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3611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64592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 e revisão corretos? A ART está preenchida?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51560" y="4480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45920" y="4480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Tabela 5.6 toda "Atende"? Diagrama unifilar conferido?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51560" y="5349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64592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Fotos com legenda e observações específicas da obra?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51560" y="6217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645920" y="6217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Emitido, com o quadro de pendências verde?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51560" y="7086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2D7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645920" y="7086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Arquivo com o nome padrão BG-ME-AA-NNNN_RevNN_Cliente?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12527280" y="2743200"/>
            <a:ext cx="4709160" cy="5120640"/>
          </a:xfrm>
          <a:prstGeom prst="roundRect">
            <a:avLst>
              <a:gd name="adj" fmla="val 4272"/>
            </a:avLst>
          </a:prstGeom>
          <a:solidFill>
            <a:srgbClr val="343633"/>
          </a:solidFill>
          <a:ln w="12700">
            <a:solidFill>
              <a:srgbClr val="3436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89304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LINK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893040" y="34290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bg-gmd.vercel.app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289304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DÚVIDAS E CADASTROS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893040" y="47091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Kauê Brunetti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administrador do gerador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kba@mybegreen.com.br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2893040" y="6263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MATERIAL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2893040" y="66294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DA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 apresentação fica na pasta do time para consulta. Guia do banco e do deploy no repositório (docs/).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51560" y="8412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D7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Obrigado. Agora é só emitir.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GMD · Treinamento do time de projetos</dc:title>
  <dc:subject>PptxGenJS Presentation</dc:subject>
  <dc:creator>BeGreen Mobilidade Elétrica</dc:creator>
  <cp:lastModifiedBy>BeGreen Mobilidade Elétrica</cp:lastModifiedBy>
  <cp:revision>1</cp:revision>
  <dcterms:created xsi:type="dcterms:W3CDTF">2026-08-23T14:13:03Z</dcterms:created>
  <dcterms:modified xsi:type="dcterms:W3CDTF">2026-08-23T14:13:03Z</dcterms:modified>
</cp:coreProperties>
</file>